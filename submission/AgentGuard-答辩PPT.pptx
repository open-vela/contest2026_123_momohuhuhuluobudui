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756000" y="1656000"/>
            <a:ext cx="1062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AgentGuard</a:t>
            </a:r>
            <a:endParaRPr b="0" lang="en-US" sz="3200" spc="-1" strike="noStrike">
              <a:latin typeface="Arial"/>
            </a:endParaRPr>
          </a:p>
          <a:p>
            <a:r>
              <a:rPr b="0" lang="zh-CN" sz="1800" spc="-1" strike="noStrike">
                <a:solidFill>
                  <a:srgbClr val="b9d2df"/>
                </a:solidFill>
                <a:latin typeface="Noto Sans CJK SC"/>
              </a:rPr>
              <a:t>基于 </a:t>
            </a:r>
            <a:r>
              <a:rPr b="0" lang="en-US" sz="1800" spc="-1" strike="noStrike">
                <a:solidFill>
                  <a:srgbClr val="b9d2df"/>
                </a:solidFill>
                <a:latin typeface="Noto Sans CJK SC"/>
              </a:rPr>
              <a:t>openvela + ESP-DL </a:t>
            </a:r>
            <a:r>
              <a:rPr b="0" lang="zh-CN" sz="1800" spc="-1" strike="noStrike">
                <a:solidFill>
                  <a:srgbClr val="b9d2df"/>
                </a:solidFill>
                <a:latin typeface="Noto Sans CJK SC"/>
              </a:rPr>
              <a:t>的桌面健康与隐私守护终端</a:t>
            </a:r>
            <a:endParaRPr b="0" lang="en-US" sz="18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端侧人数感知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·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久坐提醒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·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自动隐私遮罩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·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事件统计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56000" y="5256000"/>
            <a:ext cx="10620000" cy="79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2026 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首届 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openvela AI 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硬件开发者大赛｜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AI 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硬件产品创新</a:t>
            </a:r>
            <a:endParaRPr b="0" lang="en-US" sz="1100" spc="-1" strike="noStrike">
              <a:latin typeface="Arial"/>
            </a:endParaRPr>
          </a:p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【待填写：正式队伍名称 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/ 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成员真实姓名】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01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真实问题：健康与屏幕隐私同时发生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48000" y="1440000"/>
            <a:ext cx="3312000" cy="342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久坐风险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伏案工作时容易忽略时间，普通定时器无法判断用户是否真的在座。</a:t>
            </a:r>
            <a:endParaRPr b="0" lang="en-US" sz="16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需要结合“人在画面中”的实际状态计时和提醒。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428000" y="1440000"/>
            <a:ext cx="3312000" cy="342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窥屏风险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开放办公室或家庭环境中，身后来人可能看到敏感屏幕。</a:t>
            </a:r>
            <a:endParaRPr b="0" lang="en-US" sz="16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需要在第二人出现时快速、自动、可恢复地遮挡电脑。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208000" y="1440000"/>
            <a:ext cx="3312000" cy="342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隐私约束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云端视觉会引入图像上传和网络依赖。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AgentGuard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在开发板本地检测，只把结构化事件发送给电脑。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02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方案：一个端侧感知、双场景闭环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720000" y="1512000"/>
            <a:ext cx="2196000" cy="1584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4de0c1"/>
                </a:solidFill>
                <a:latin typeface="Noto Sans CJK SC"/>
              </a:rPr>
              <a:t>V4L2 </a:t>
            </a:r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摄像头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RGB565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实时帧</a:t>
            </a:r>
            <a:endParaRPr b="0" lang="en-US" sz="1600" spc="-1" strike="noStrike">
              <a:latin typeface="Arial"/>
            </a:endParaRPr>
          </a:p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图像不离开开发板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060000" y="1944000"/>
            <a:ext cx="72000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→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780000" y="1512000"/>
            <a:ext cx="2196000" cy="162072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4de0c1"/>
                </a:solidFill>
                <a:latin typeface="Noto Sans CJK SC"/>
              </a:rPr>
              <a:t>ESP-DL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人脸框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+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人数</a:t>
            </a:r>
            <a:endParaRPr b="0" lang="en-US" sz="1600" spc="-1" strike="noStrike">
              <a:latin typeface="Arial"/>
            </a:endParaRPr>
          </a:p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尽量保留官方算法层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120000" y="1944000"/>
            <a:ext cx="72000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→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840000" y="1512000"/>
            <a:ext cx="2196000" cy="1584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策略状态机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久坐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/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隐私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/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故障降级</a:t>
            </a:r>
            <a:endParaRPr b="0" lang="en-US" sz="1600" spc="-1" strike="noStrike">
              <a:latin typeface="Arial"/>
            </a:endParaRPr>
          </a:p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确定性、可复现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180000" y="1944000"/>
            <a:ext cx="72000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→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900000" y="1512000"/>
            <a:ext cx="1548000" cy="1584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反馈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LCD / LED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USB / HTTP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512000" y="4032000"/>
            <a:ext cx="4140000" cy="144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健康闭环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在座计时 →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STAND UP → LED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闪烁 →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BOOT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确认 → 事件统计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552000" y="4032000"/>
            <a:ext cx="4140000" cy="144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隐私闭环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隐私待命 →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FACE:2 → LED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双闪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+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电脑遮罩 →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FACE:1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自动恢复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03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核心实现与 </a:t>
            </a:r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openvela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能力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48000" y="1368000"/>
            <a:ext cx="3384000" cy="396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图形与多媒体通路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V4L2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获取摄像头帧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240×240 LCD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实时预览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多人检测框与状态底栏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DMA/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缓存路径稳定化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428000" y="1368000"/>
            <a:ext cx="3384000" cy="396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4de0c1"/>
                </a:solidFill>
                <a:latin typeface="Noto Sans CJK SC"/>
              </a:rPr>
              <a:t>ESP-DL </a:t>
            </a:r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兼容层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RGB565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输入适配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NuttX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内存与任务兼容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官方算法层最小改动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不进行主人身份识别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208000" y="1368000"/>
            <a:ext cx="3384000" cy="396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系统与协同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LittleFS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有界事件日志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USB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串口优先，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HTTP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可选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电脑通知、全屏遮罩、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CSV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断线不阻塞板端检测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04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可演示的完整功能链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48000" y="1332000"/>
            <a:ext cx="5184000" cy="1836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人脸检测与人数统计</a:t>
            </a:r>
            <a:endParaRPr b="0" lang="en-US" sz="2000" spc="-1" strike="noStrike">
              <a:latin typeface="Arial"/>
            </a:endParaRPr>
          </a:p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FACE:0 → FACE:1 → FACE:2</a:t>
            </a:r>
            <a:endParaRPr b="0" lang="en-US" sz="25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单人显示一个框，双人显示两个框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300000" y="1332000"/>
            <a:ext cx="5184000" cy="1836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久坐提醒</a:t>
            </a:r>
            <a:endParaRPr b="0" lang="en-US" sz="2000" spc="-1" strike="noStrike">
              <a:latin typeface="Arial"/>
            </a:endParaRPr>
          </a:p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DEMO 20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秒</a:t>
            </a:r>
            <a:endParaRPr b="0" lang="en-US" sz="25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STAND UP + LED +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电脑通知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+ BOOT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确认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48000" y="3708000"/>
            <a:ext cx="5184000" cy="1836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隐私保护</a:t>
            </a:r>
            <a:endParaRPr b="0" lang="en-US" sz="2000" spc="-1" strike="noStrike">
              <a:latin typeface="Arial"/>
            </a:endParaRPr>
          </a:p>
          <a:p>
            <a:pPr algn="ctr">
              <a:buNone/>
            </a:pP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第二人进入即触发</a:t>
            </a:r>
            <a:endParaRPr b="0" lang="en-US" sz="25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Power LED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双闪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+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电脑不透明全屏遮罩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300000" y="3708000"/>
            <a:ext cx="5184000" cy="1836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事件统计</a:t>
            </a:r>
            <a:endParaRPr b="0" lang="en-US" sz="2000" spc="-1" strike="noStrike">
              <a:latin typeface="Arial"/>
            </a:endParaRPr>
          </a:p>
          <a:p>
            <a:pPr algn="ctr">
              <a:buNone/>
            </a:pP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久坐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/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确认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/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隐私</a:t>
            </a:r>
            <a:endParaRPr b="0" lang="en-US" sz="25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实时面板、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JSONL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留存与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CSV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导出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05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工程证据与可靠性边界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48000" y="1440000"/>
            <a:ext cx="3348000" cy="3528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22</a:t>
            </a:r>
            <a:endParaRPr b="0" lang="en-US" sz="2500" spc="-1" strike="noStrike">
              <a:latin typeface="Arial"/>
            </a:endParaRPr>
          </a:p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电脑端自动化测试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代理、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USB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启动、事件统计、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Dashboard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和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Demo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启动器测试通过。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428000" y="1440000"/>
            <a:ext cx="3348000" cy="3528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2,414,780 B</a:t>
            </a:r>
            <a:endParaRPr b="0" lang="en-US" sz="2500" spc="-1" strike="noStrike">
              <a:latin typeface="Arial"/>
            </a:endParaRPr>
          </a:p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最终固件</a:t>
            </a:r>
            <a:endParaRPr b="0" lang="en-US" sz="2000" spc="-1" strike="noStrike">
              <a:latin typeface="Arial"/>
            </a:endParaRPr>
          </a:p>
          <a:p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小于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0x300000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分区限制；刷写时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Flash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哈希验证通过。</a:t>
            </a:r>
            <a:endParaRPr b="0" lang="en-US" sz="1600" spc="-1" strike="noStrike">
              <a:latin typeface="Arial"/>
            </a:endParaRPr>
          </a:p>
          <a:p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SHA-256: fbf3dbe8…0b27ddf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208000" y="1440000"/>
            <a:ext cx="3348000" cy="3528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16 / 2,229</a:t>
            </a:r>
            <a:endParaRPr b="0" lang="en-US" sz="2500" spc="-1" strike="noStrike">
              <a:latin typeface="Arial"/>
            </a:endParaRPr>
          </a:p>
          <a:p>
            <a:r>
              <a:rPr b="1" lang="en-US" sz="2000" spc="-1" strike="noStrike">
                <a:solidFill>
                  <a:srgbClr val="4de0c1"/>
                </a:solidFill>
                <a:latin typeface="Noto Sans CJK SC"/>
              </a:rPr>
              <a:t>AI </a:t>
            </a:r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会话 </a:t>
            </a:r>
            <a:r>
              <a:rPr b="1" lang="en-US" sz="2000" spc="-1" strike="noStrike">
                <a:solidFill>
                  <a:srgbClr val="4de0c1"/>
                </a:solidFill>
                <a:latin typeface="Noto Sans CJK SC"/>
              </a:rPr>
              <a:t>/ </a:t>
            </a:r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事件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2,421,811 Token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；官方日志校验器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ALL OK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；沉淀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1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个可复用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Coding Skill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20000" y="5580000"/>
            <a:ext cx="1062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真实性边界：未使用标准数据集测量精确率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/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召回率，未宣称主人识别、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KWS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、手势、功耗或长稳数据。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576000" y="396000"/>
            <a:ext cx="11016000" cy="6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6fbff"/>
                </a:solidFill>
                <a:latin typeface="Noto Sans CJK SC"/>
              </a:rPr>
              <a:t>06 </a:t>
            </a:r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价值与下一步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20000" y="1440000"/>
            <a:ext cx="5040000" cy="378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应用价值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面向开放办公室、家庭书房和本地隐私工作台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不依赖云端视觉，降低部署与隐私成本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状态机可迁移到更多带摄像头的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openvela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终端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电脑代理扩展通知、统计和安全策略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408000" y="1440000"/>
            <a:ext cx="5040000" cy="3780000"/>
          </a:xfrm>
          <a:prstGeom prst="rect">
            <a:avLst/>
          </a:prstGeom>
          <a:solidFill>
            <a:srgbClr val="102f40"/>
          </a:solidFill>
          <a:ln w="0">
            <a:solidFill>
              <a:srgbClr val="285267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2000" spc="-1" strike="noStrike">
                <a:solidFill>
                  <a:srgbClr val="4de0c1"/>
                </a:solidFill>
                <a:latin typeface="Noto Sans CJK SC"/>
              </a:rPr>
              <a:t>后续规划</a:t>
            </a:r>
            <a:endParaRPr b="0" lang="en-US" sz="20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补充标准数据集、功耗与长时间稳定性测试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优化边缘角度和遮挡下的多人稳定性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设计桌面外壳与更清晰的本地交互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• </a:t>
            </a:r>
            <a:r>
              <a:rPr b="0" lang="zh-CN" sz="1600" spc="-1" strike="noStrike">
                <a:solidFill>
                  <a:srgbClr val="e5f0f5"/>
                </a:solidFill>
                <a:latin typeface="Noto Sans CJK SC"/>
              </a:rPr>
              <a:t>资源允许时增加符合指定唤醒词的本地 </a:t>
            </a:r>
            <a:r>
              <a:rPr b="0" lang="en-US" sz="1600" spc="-1" strike="noStrike">
                <a:solidFill>
                  <a:srgbClr val="e5f0f5"/>
                </a:solidFill>
                <a:latin typeface="Noto Sans CJK SC"/>
              </a:rPr>
              <a:t>KWS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792000" y="1908000"/>
            <a:ext cx="10620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让桌面终端看得见风险，</a:t>
            </a:r>
            <a:endParaRPr b="0" lang="en-US" sz="3200" spc="-1" strike="noStrike">
              <a:latin typeface="Arial"/>
            </a:endParaRPr>
          </a:p>
          <a:p>
            <a:r>
              <a:rPr b="1" lang="zh-CN" sz="3200" spc="-1" strike="noStrike">
                <a:solidFill>
                  <a:srgbClr val="f6fbff"/>
                </a:solidFill>
                <a:latin typeface="Noto Sans CJK SC"/>
              </a:rPr>
              <a:t>但不让摄像头画面离开设备。</a:t>
            </a:r>
            <a:endParaRPr b="0" lang="en-US" sz="3200" spc="-1" strike="noStrike">
              <a:latin typeface="Arial"/>
            </a:endParaRPr>
          </a:p>
          <a:p>
            <a:r>
              <a:rPr b="0" lang="en-US" sz="1800" spc="-1" strike="noStrike">
                <a:solidFill>
                  <a:srgbClr val="b9d2df"/>
                </a:solidFill>
                <a:latin typeface="Noto Sans CJK SC"/>
              </a:rPr>
              <a:t>AgentGuard · openvela + ESP-DL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92000" y="5328000"/>
            <a:ext cx="10620000" cy="79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代码仓库：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https://github.com/open-vela/contest2026_123_momohuhuhuluobudui</a:t>
            </a:r>
            <a:endParaRPr b="0" lang="en-US" sz="1100" spc="-1" strike="noStrike">
              <a:latin typeface="Arial"/>
            </a:endParaRPr>
          </a:p>
          <a:p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【待填写：正式队伍名称 </a:t>
            </a:r>
            <a:r>
              <a:rPr b="0" lang="en-US" sz="1100" spc="-1" strike="noStrike">
                <a:solidFill>
                  <a:srgbClr val="9fb8c5"/>
                </a:solidFill>
                <a:latin typeface="Noto Sans CJK SC"/>
              </a:rPr>
              <a:t>/ </a:t>
            </a:r>
            <a:r>
              <a:rPr b="0" lang="zh-CN" sz="1100" spc="-1" strike="noStrike">
                <a:solidFill>
                  <a:srgbClr val="9fb8c5"/>
                </a:solidFill>
                <a:latin typeface="Noto Sans CJK SC"/>
              </a:rPr>
              <a:t>成员真实姓名】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